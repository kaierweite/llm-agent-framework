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72" y="2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2FA7"/>
              </a:gs>
              <a:gs pos="100000">
                <a:srgbClr val="001A5E"/>
              </a:gs>
            </a:gsLst>
            <a:lin ang="2700000" scaled="1"/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647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2152155" y="2434590"/>
            <a:ext cx="788769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 Agent Framework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78705" y="3328035"/>
            <a:ext cx="24345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智能代理框架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400050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314337" y="4314825"/>
            <a:ext cx="75633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Mod val="75000"/>
                  </a:srgbClr>
                </a:solidFill>
                <a:latin typeface="Arial"/>
                <a:ea typeface="Microsoft YaHei"/>
                <a:cs typeface="Arial"/>
              </a:rPr>
              <a:t>基于大语言模型的全栈智能代理框架 —— 让 AI 从"会聊天"进化为"能动手干活"</a:t>
            </a:r>
          </a:p>
        </p:txBody>
      </p:sp>
      <p:sp>
        <p:nvSpPr>
          <p:cNvPr id="10" name="Line 10"/>
          <p:cNvSpPr/>
          <p:nvPr/>
        </p:nvSpPr>
        <p:spPr>
          <a:xfrm>
            <a:off x="571500" y="6096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FFFFFF">
                <a:alpha val="15000"/>
              </a:srgbClr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gradFill>
            <a:gsLst>
              <a:gs pos="0">
                <a:srgbClr val="002FA7"/>
              </a:gs>
              <a:gs pos="100000">
                <a:srgbClr val="001A5E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6477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16280" y="2659380"/>
            <a:ext cx="2906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从"会聊天"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6280" y="3326130"/>
            <a:ext cx="2906992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5B7BFF"/>
                </a:solidFill>
                <a:latin typeface="Arial"/>
                <a:ea typeface="Microsoft YaHei"/>
                <a:cs typeface="Arial"/>
              </a:rPr>
              <a:t>到"能干活"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4095750"/>
            <a:ext cx="571500" cy="28575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656070" y="379095"/>
            <a:ext cx="161582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latin typeface="Consolas"/>
                <a:ea typeface="Microsoft YaHei"/>
                <a:cs typeface="Consolas"/>
              </a:rPr>
              <a:t>项目背景与动机</a:t>
            </a:r>
          </a:p>
        </p:txBody>
      </p:sp>
      <p:sp>
        <p:nvSpPr>
          <p:cNvPr id="12" name="Line 12"/>
          <p:cNvSpPr/>
          <p:nvPr/>
        </p:nvSpPr>
        <p:spPr>
          <a:xfrm>
            <a:off x="6667500" y="6477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667500" y="1524000"/>
            <a:ext cx="5334000" cy="1143000"/>
          </a:xfrm>
          <a:prstGeom prst="roundRect">
            <a:avLst>
              <a:gd name="adj" fmla="val 3333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936105" y="1711642"/>
            <a:ext cx="18285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"今天天气怎么样？"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38010" y="2013585"/>
            <a:ext cx="30624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—— "抱歉，我的知识截止到 2023 年。"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38010" y="2299335"/>
            <a:ext cx="25717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—— "对不起，我只能生成文字。"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46545" y="3060382"/>
            <a:ext cx="38626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大语言模型很聪明，但也很"无能"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50355" y="3426142"/>
            <a:ext cx="39973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被困在对话框里——看得见世界，碰不到世界。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667500" y="4095750"/>
            <a:ext cx="5334000" cy="762000"/>
          </a:xfrm>
          <a:prstGeom prst="roundRect">
            <a:avLst>
              <a:gd name="adj" fmla="val 5000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934200" y="4267200"/>
            <a:ext cx="47421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核心命题：如何让 LLM 既能思考，也能行动？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39915" y="4572952"/>
            <a:ext cx="36841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75000"/>
                  </a:srgbClr>
                </a:solidFill>
                <a:latin typeface="Arial"/>
                <a:ea typeface="Microsoft YaHei"/>
                <a:cs typeface="Arial"/>
              </a:rPr>
              <a:t>→ 构建 LLM Agent Framework — 让大模型真正能干活</a:t>
            </a:r>
          </a:p>
        </p:txBody>
      </p:sp>
      <p:sp>
        <p:nvSpPr>
          <p:cNvPr id="22" name="Line 22"/>
          <p:cNvSpPr/>
          <p:nvPr/>
        </p:nvSpPr>
        <p:spPr>
          <a:xfrm>
            <a:off x="6667500" y="60960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1905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647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7562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核心痛点与解决方案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20396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企业落地 LLM 面临的三大瓶颈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5334000" cy="2095500"/>
          </a:xfrm>
          <a:prstGeom prst="roundRect">
            <a:avLst>
              <a:gd name="adj" fmla="val 2727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1925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46772" y="1911191"/>
            <a:ext cx="4005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痛点 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4390" y="21869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知识时效性受限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010" y="258508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模型训练数据有截止日期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3915" y="2839402"/>
            <a:ext cx="35384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无法获取实时信息，回答"我的知识截止到 2023 年"</a:t>
            </a:r>
          </a:p>
        </p:txBody>
      </p:sp>
      <p:sp>
        <p:nvSpPr>
          <p:cNvPr id="14" name="Line 14"/>
          <p:cNvSpPr/>
          <p:nvPr/>
        </p:nvSpPr>
        <p:spPr>
          <a:xfrm>
            <a:off x="857250" y="3238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46772" y="3435191"/>
            <a:ext cx="1948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影响：外部数据依赖场景完全不可用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1619250"/>
            <a:ext cx="5334000" cy="2095500"/>
          </a:xfrm>
          <a:prstGeom prst="roundRect">
            <a:avLst>
              <a:gd name="adj" fmla="val 2727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286500" y="161925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61772" y="1911191"/>
            <a:ext cx="4306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痛点 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49390" y="218694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无外部行动能力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57010" y="2585085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模型仅能生成文本，无法执行操作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58915" y="2839402"/>
            <a:ext cx="37071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不能操作文件、查询数据库、调用 API 或发送网络请求</a:t>
            </a:r>
          </a:p>
        </p:txBody>
      </p:sp>
      <p:sp>
        <p:nvSpPr>
          <p:cNvPr id="22" name="Line 22"/>
          <p:cNvSpPr/>
          <p:nvPr/>
        </p:nvSpPr>
        <p:spPr>
          <a:xfrm>
            <a:off x="6572250" y="3238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561772" y="3435191"/>
            <a:ext cx="18283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影响：企业业务集成完全无法实现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000500"/>
            <a:ext cx="5334000" cy="2095500"/>
          </a:xfrm>
          <a:prstGeom prst="roundRect">
            <a:avLst>
              <a:gd name="adj" fmla="val 2727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4000500"/>
            <a:ext cx="5334000" cy="38100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6772" y="4292441"/>
            <a:ext cx="4306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痛点 03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4390" y="4568190"/>
            <a:ext cx="19779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上下文窗口瓶颈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010" y="4966335"/>
            <a:ext cx="21949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长对话超出模型 token 限制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3915" y="5220652"/>
            <a:ext cx="38604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历史信息被截断，关键上下文丢失，无法支持复杂长任务</a:t>
            </a:r>
          </a:p>
        </p:txBody>
      </p:sp>
      <p:sp>
        <p:nvSpPr>
          <p:cNvPr id="30" name="Line 30"/>
          <p:cNvSpPr/>
          <p:nvPr/>
        </p:nvSpPr>
        <p:spPr>
          <a:xfrm>
            <a:off x="857250" y="56197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46772" y="5816441"/>
            <a:ext cx="1948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影响：多轮对话和复杂推理场景受限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4000500"/>
            <a:ext cx="5334000" cy="2095500"/>
          </a:xfrm>
          <a:prstGeom prst="roundRect">
            <a:avLst>
              <a:gd name="adj" fmla="val 2727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561772" y="4292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解决方案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49390" y="4568190"/>
            <a:ext cx="29578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LLM Agent Framework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57010" y="4966335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全栈智能代理框架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58915" y="5268278"/>
            <a:ext cx="18515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15+ 内置工具 · ReAct 循环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58915" y="5506402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RAG 知识库 · 动态技能系统</a:t>
            </a:r>
          </a:p>
        </p:txBody>
      </p:sp>
      <p:sp>
        <p:nvSpPr>
          <p:cNvPr id="38" name="Line 38"/>
          <p:cNvSpPr/>
          <p:nvPr/>
        </p:nvSpPr>
        <p:spPr>
          <a:xfrm>
            <a:off x="6572250" y="5857875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506875" y="5854573"/>
            <a:ext cx="1585370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bg1"/>
                </a:solidFill>
                <a:latin typeface="Arial"/>
                <a:ea typeface="Microsoft YaHei"/>
                <a:cs typeface="Arial"/>
              </a:rPr>
              <a:t>目标：让 LLM 真正能干活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647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756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工具调用引擎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7210" y="1250229"/>
            <a:ext cx="27207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ReAct 范式：推理 → 行动 → 再推理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6667500" cy="4762500"/>
          </a:xfrm>
          <a:prstGeom prst="roundRect">
            <a:avLst>
              <a:gd name="adj" fmla="val 12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2022" y="1911191"/>
            <a:ext cx="8704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ReAct 循环流程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2190750"/>
            <a:ext cx="13335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222162" y="234696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LLM 推理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64105" y="228314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571750" y="2190750"/>
            <a:ext cx="13335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855214" y="2346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解析调用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83355" y="228314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191000" y="2190750"/>
            <a:ext cx="133350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474464" y="2346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执行工具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02605" y="2283142"/>
            <a:ext cx="1427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810250" y="2190750"/>
            <a:ext cx="1238250" cy="476250"/>
          </a:xfrm>
          <a:prstGeom prst="roundRect">
            <a:avLst>
              <a:gd name="adj" fmla="val 8000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046089" y="2346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结果注入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165" y="2791778"/>
            <a:ext cx="250331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↑ 最多 5 轮链式调用 · 总超时 120 秒</a:t>
            </a:r>
          </a:p>
        </p:txBody>
      </p:sp>
      <p:sp>
        <p:nvSpPr>
          <p:cNvPr id="22" name="Line 22"/>
          <p:cNvSpPr/>
          <p:nvPr/>
        </p:nvSpPr>
        <p:spPr>
          <a:xfrm>
            <a:off x="952500" y="3238500"/>
            <a:ext cx="6000750" cy="9525"/>
          </a:xfrm>
          <a:custGeom>
            <a:avLst/>
            <a:gdLst/>
            <a:ahLst/>
            <a:cxnLst/>
            <a:rect l="l" t="t" r="r" b="b"/>
            <a:pathLst>
              <a:path w="6000750" h="9525">
                <a:moveTo>
                  <a:pt x="0" y="0"/>
                </a:moveTo>
                <a:lnTo>
                  <a:pt x="60007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42022" y="3435191"/>
            <a:ext cx="8402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内置工具 (15+)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52500" y="3714750"/>
            <a:ext cx="12382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251585" y="38300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文件操作</a:t>
            </a:r>
          </a:p>
        </p:txBody>
      </p:sp>
      <p:sp>
        <p:nvSpPr>
          <p:cNvPr id="26" name="Rectangle 26"/>
          <p:cNvSpPr/>
          <p:nvPr/>
        </p:nvSpPr>
        <p:spPr>
          <a:xfrm>
            <a:off x="2333625" y="3714750"/>
            <a:ext cx="12382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632710" y="38300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网络请求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714750" y="3714750"/>
            <a:ext cx="12382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013835" y="38300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天气查询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095875" y="3714750"/>
            <a:ext cx="12382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318284" y="38300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知识库检索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52500" y="4191000"/>
            <a:ext cx="12382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251585" y="4306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历史搜索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333625" y="4191000"/>
            <a:ext cx="12382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632710" y="4306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技能加载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714750" y="4191000"/>
            <a:ext cx="1238250" cy="3429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013835" y="43062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主题切换</a:t>
            </a:r>
          </a:p>
        </p:txBody>
      </p:sp>
      <p:sp>
        <p:nvSpPr>
          <p:cNvPr id="38" name="Line 38"/>
          <p:cNvSpPr/>
          <p:nvPr/>
        </p:nvSpPr>
        <p:spPr>
          <a:xfrm>
            <a:off x="952500" y="4857750"/>
            <a:ext cx="6000750" cy="9525"/>
          </a:xfrm>
          <a:custGeom>
            <a:avLst/>
            <a:gdLst/>
            <a:ahLst/>
            <a:cxnLst/>
            <a:rect l="l" t="t" r="r" b="b"/>
            <a:pathLst>
              <a:path w="6000750" h="9525">
                <a:moveTo>
                  <a:pt x="0" y="0"/>
                </a:moveTo>
                <a:lnTo>
                  <a:pt x="600075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37260" y="5061585"/>
            <a:ext cx="31864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LLM 自主决定用哪个工具、传什么参数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9165" y="5363528"/>
            <a:ext cx="34771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并行执行：ThreadPoolExecutor · 统一超时 30 秒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9165" y="5601652"/>
            <a:ext cx="31167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安全沙箱：路径白名单审计 · 支持自定义扩展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620000" y="1619250"/>
            <a:ext cx="4000500" cy="4762500"/>
          </a:xfrm>
          <a:prstGeom prst="roundRect">
            <a:avLst>
              <a:gd name="adj" fmla="val 1429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148762" y="25698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工具调用准确率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10620" y="2842260"/>
            <a:ext cx="3219259" cy="1463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93.3%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667750" y="39052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622197" y="4140518"/>
            <a:ext cx="19961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30 道测试 · 28 道正确</a:t>
            </a:r>
          </a:p>
        </p:txBody>
      </p:sp>
      <p:sp>
        <p:nvSpPr>
          <p:cNvPr id="47" name="Line 47"/>
          <p:cNvSpPr/>
          <p:nvPr/>
        </p:nvSpPr>
        <p:spPr>
          <a:xfrm>
            <a:off x="8001000" y="47625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9525">
            <a:solidFill>
              <a:srgbClr val="FFFFFF">
                <a:alpha val="10000"/>
              </a:srgbClr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982004" y="5030152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最多 5 轮链式调用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67631" y="5315902"/>
            <a:ext cx="19052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文件操作类工具正确率 100%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051012" y="5601652"/>
            <a:ext cx="11384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平均耗时 698ms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647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756285"/>
            <a:ext cx="425050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Agent ReAct 循环流程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296829"/>
            <a:ext cx="66903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6 步推理-行动循环：构建上下文 → LLM推理 → 解析 → 执行工具 → 结果注入 → 循环控制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714500"/>
            <a:ext cx="1714500" cy="666750"/>
          </a:xfrm>
          <a:prstGeom prst="roundRect">
            <a:avLst>
              <a:gd name="adj" fmla="val 8571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99148" y="1892141"/>
            <a:ext cx="35833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STEP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20802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构建消息上下文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66010" y="19469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619375" y="1714500"/>
            <a:ext cx="1714500" cy="666750"/>
          </a:xfrm>
          <a:prstGeom prst="roundRect">
            <a:avLst>
              <a:gd name="adj" fmla="val 8571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847022" y="1892141"/>
            <a:ext cx="388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STEP 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42260" y="208026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LLM 推理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13885" y="19469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667250" y="1714500"/>
            <a:ext cx="1714500" cy="666750"/>
          </a:xfrm>
          <a:prstGeom prst="roundRect">
            <a:avLst>
              <a:gd name="adj" fmla="val 8571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894898" y="1892141"/>
            <a:ext cx="388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STEP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90135" y="20802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解析工具调用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1760" y="19469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715125" y="1714500"/>
            <a:ext cx="1714500" cy="666750"/>
          </a:xfrm>
          <a:prstGeom prst="roundRect">
            <a:avLst>
              <a:gd name="adj" fmla="val 8571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942772" y="1892141"/>
            <a:ext cx="38845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Consolas"/>
                <a:ea typeface="Microsoft YaHei"/>
                <a:cs typeface="Consolas"/>
              </a:rPr>
              <a:t>STEP 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38010" y="20802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执行工具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09635" y="19469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763000" y="1714500"/>
            <a:ext cx="2857500" cy="666750"/>
          </a:xfrm>
          <a:prstGeom prst="roundRect">
            <a:avLst>
              <a:gd name="adj" fmla="val 8571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990648" y="1892141"/>
            <a:ext cx="520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STEP 5+6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85885" y="2080260"/>
            <a:ext cx="1714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结果注入 → 循环控制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90772" y="2387441"/>
            <a:ext cx="822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← 循环 (≤5 轮)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2762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6772" y="3006566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上下文注入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2962" y="3259931"/>
            <a:ext cx="31914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系统提示词 + 长期记忆（偏好/事实/任务）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2962" y="3498056"/>
            <a:ext cx="30353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技能规则 + 知识库上下文 + 滑动窗口消息</a:t>
            </a:r>
          </a:p>
        </p:txBody>
      </p:sp>
      <p:sp>
        <p:nvSpPr>
          <p:cNvPr id="32" name="Line 32"/>
          <p:cNvSpPr/>
          <p:nvPr/>
        </p:nvSpPr>
        <p:spPr>
          <a:xfrm>
            <a:off x="857250" y="3857625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846772" y="4054316"/>
            <a:ext cx="2219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SSE 流式传输 · 实时输出 · 用户即时感知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6772" y="4292441"/>
            <a:ext cx="296094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工具执行：单个同步 / 多个 ThreadPoolExecutor 并行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286502" y="2787491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561772" y="300656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约束控制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55105" y="3330892"/>
            <a:ext cx="1721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最多 5 轮工具调用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55105" y="3664268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总耗时 ≤ 120 秒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55105" y="3997642"/>
            <a:ext cx="1628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单工具超时 30 秒</a:t>
            </a:r>
          </a:p>
        </p:txBody>
      </p:sp>
      <p:sp>
        <p:nvSpPr>
          <p:cNvPr id="40" name="Line 40"/>
          <p:cNvSpPr/>
          <p:nvPr/>
        </p:nvSpPr>
        <p:spPr>
          <a:xfrm>
            <a:off x="6572250" y="4381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6555105" y="4390072"/>
            <a:ext cx="1442703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chemeClr val="bg1"/>
                </a:solidFill>
                <a:latin typeface="Consolas"/>
                <a:ea typeface="Microsoft YaHei"/>
                <a:cs typeface="Consolas"/>
              </a:rPr>
              <a:t>超出限制 → 强制返回已有结果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71500" y="4857750"/>
            <a:ext cx="11049000" cy="1333500"/>
          </a:xfrm>
          <a:prstGeom prst="roundRect">
            <a:avLst>
              <a:gd name="adj" fmla="val 4286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46772" y="5102066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解析与处理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42962" y="5355431"/>
            <a:ext cx="43826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正则提取 &lt;function_calls&gt; 标签 → JSON 解析工具调用指令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43915" y="5649278"/>
            <a:ext cx="57007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无工具调用 → 直接 SSE 输出文本 · 有工具调用 → 并行执行 → 结果注入 → 下一轮推理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3915" y="5935028"/>
            <a:ext cx="39294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Token &gt; 30k 自动触发 LLM 摘要压缩 · 更新长期记忆规则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647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7562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上下文压缩与长期记忆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203960"/>
            <a:ext cx="42104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双层策略：滑动窗口 + 自动摘要，100 轮模拟测试验证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66875"/>
            <a:ext cx="5524500" cy="2476500"/>
          </a:xfrm>
          <a:prstGeom prst="roundRect">
            <a:avLst>
              <a:gd name="adj" fmla="val 2308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2022" y="1911191"/>
            <a:ext cx="12077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压缩测试 · 100 轮模拟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52500" y="2190750"/>
            <a:ext cx="2286000" cy="857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642217" y="238744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压缩前 Token 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8445" y="2517458"/>
            <a:ext cx="1674109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45,200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06140" y="252031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810000" y="2190750"/>
            <a:ext cx="2095500" cy="857250"/>
          </a:xfrm>
          <a:prstGeom prst="roundRect">
            <a:avLst>
              <a:gd name="adj" fmla="val 6667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404467" y="2387441"/>
            <a:ext cx="9065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Consolas"/>
                <a:ea typeface="Microsoft YaHei"/>
                <a:cs typeface="Consolas"/>
              </a:rPr>
              <a:t>压缩后 Token 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53537" y="2517458"/>
            <a:ext cx="140842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8,500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" y="3238500"/>
            <a:ext cx="2286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904286" y="341614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压缩比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9668" y="3564255"/>
            <a:ext cx="10516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2FA7"/>
                </a:solidFill>
                <a:latin typeface="Arial"/>
                <a:ea typeface="Microsoft YaHei"/>
                <a:cs typeface="Arial"/>
              </a:rPr>
              <a:t>5.3 : 1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429000" y="3238500"/>
            <a:ext cx="24765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235053" y="34161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关键信息保留率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97775" y="3564255"/>
            <a:ext cx="9389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2FA7"/>
                </a:solidFill>
                <a:latin typeface="Arial"/>
                <a:ea typeface="Microsoft YaHei"/>
                <a:cs typeface="Arial"/>
              </a:rPr>
              <a:t>92.5%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477000" y="1666875"/>
            <a:ext cx="5143500" cy="2476500"/>
          </a:xfrm>
          <a:prstGeom prst="roundRect">
            <a:avLst>
              <a:gd name="adj" fmla="val 2308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847522" y="19111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长期记忆系统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762750" y="2190750"/>
            <a:ext cx="4572000" cy="533400"/>
          </a:xfrm>
          <a:prstGeom prst="roundRect">
            <a:avLst>
              <a:gd name="adj" fmla="val 714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038022" y="2339816"/>
            <a:ext cx="1233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B7BFF"/>
                </a:solidFill>
                <a:latin typeface="Consolas"/>
                <a:ea typeface="Microsoft YaHei"/>
                <a:cs typeface="Consolas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12355" y="2283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用户偏好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618" y="2352199"/>
            <a:ext cx="20610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回复风格 · 语言偏好 · 交互习惯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762750" y="2819400"/>
            <a:ext cx="4572000" cy="533400"/>
          </a:xfrm>
          <a:prstGeom prst="roundRect">
            <a:avLst>
              <a:gd name="adj" fmla="val 714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038022" y="296846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B7BFF"/>
                </a:solidFill>
                <a:latin typeface="Consolas"/>
                <a:ea typeface="Microsoft YaHei"/>
                <a:cs typeface="Consolas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12355" y="29117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重要事实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69618" y="2980849"/>
            <a:ext cx="22248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姓名 · 职位 · 项目信息 · 关键数值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762750" y="3448050"/>
            <a:ext cx="4572000" cy="533400"/>
          </a:xfrm>
          <a:prstGeom prst="roundRect">
            <a:avLst>
              <a:gd name="adj" fmla="val 714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038022" y="3597116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B7BFF"/>
                </a:solidFill>
                <a:latin typeface="Consolas"/>
                <a:ea typeface="Microsoft YaHei"/>
                <a:cs typeface="Consolas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12355" y="3540442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未完成任务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9618" y="3609499"/>
            <a:ext cx="17762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提醒 · 跟进事项 · 待办追踪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429125"/>
            <a:ext cx="11049000" cy="1905000"/>
          </a:xfrm>
          <a:prstGeom prst="roundRect">
            <a:avLst>
              <a:gd name="adj" fmla="val 30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42022" y="46734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双层压缩策略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52500" y="4953000"/>
            <a:ext cx="51435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227772" y="51306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滑动窗口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081212" y="5098256"/>
            <a:ext cx="22056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Redis 保留最近 15 轮完整对话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25868" y="53430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旧消息移出窗口，确保上下文精简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286500" y="4953000"/>
            <a:ext cx="5143500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561772" y="51306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自动摘要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415212" y="5098256"/>
            <a:ext cx="25424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Token &gt; 30k 时触发 LLM 摘要压缩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59868" y="5343049"/>
            <a:ext cx="33426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生成结构化摘要（用户意图 + 关键信息 + 执行结果）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9165" y="5792152"/>
            <a:ext cx="45352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基于 Redis 的持久化记忆 · 正则规则自动提取 · 跨会话信息连续性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647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756285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动态技能系统与企业级功能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203960"/>
            <a:ext cx="43068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Markdown 规则驱动 · 按需注入 · 不改代码不重训模型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421616" y="1582102"/>
            <a:ext cx="11049000" cy="1619250"/>
          </a:xfrm>
          <a:prstGeom prst="roundRect">
            <a:avLst>
              <a:gd name="adj" fmla="val 4706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1070" y="1950720"/>
            <a:ext cx="1488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FFFFF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核心创新 · 动态技能系统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5830" y="2297430"/>
            <a:ext cx="72670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把写作规则写进 Markdown 文件，按需注入提示词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210023" y="2349923"/>
            <a:ext cx="952500" cy="342900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475785" y="2457133"/>
            <a:ext cx="5946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SKILL.md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88453" y="2446020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7BFF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357938" y="2352675"/>
            <a:ext cx="952500" cy="342900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583930" y="246126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规则注入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77222" y="2414693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B7BFF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10236" y="2349923"/>
            <a:ext cx="952500" cy="342900"/>
          </a:xfrm>
          <a:prstGeom prst="roundRect">
            <a:avLst>
              <a:gd name="adj" fmla="val 11111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625673" y="2446232"/>
            <a:ext cx="5683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LLM 输出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9165" y="2934652"/>
            <a:ext cx="43818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用户说"帮我写通知" → 自动加载通知技能规则 → 按规范生成公文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3476625"/>
            <a:ext cx="3524250" cy="1905000"/>
          </a:xfrm>
          <a:prstGeom prst="roundRect">
            <a:avLst>
              <a:gd name="adj" fmla="val 30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71500" y="3476625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94398" y="3768566"/>
            <a:ext cx="761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企业级 · 认证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3920" y="4060508"/>
            <a:ext cx="10919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JWT 认证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0588" y="440293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多用户身份隔离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1540" y="4649152"/>
            <a:ext cx="175188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bcrypt 加密 · SSRF 防护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1540" y="4887278"/>
            <a:ext cx="12764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请求限流 · 熔断器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333875" y="3476625"/>
            <a:ext cx="3524250" cy="1905000"/>
          </a:xfrm>
          <a:prstGeom prst="roundRect">
            <a:avLst>
              <a:gd name="adj" fmla="val 30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4333875" y="3476625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656772" y="3768566"/>
            <a:ext cx="761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企业级 · 管理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46295" y="40605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部门管理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52962" y="440293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树形组织架构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53915" y="4649152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多级部门 · 成员权限控制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53915" y="4887278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知识库分享码 · 访问日志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096250" y="3476625"/>
            <a:ext cx="3524250" cy="1905000"/>
          </a:xfrm>
          <a:prstGeom prst="roundRect">
            <a:avLst>
              <a:gd name="adj" fmla="val 30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8096250" y="3476625"/>
            <a:ext cx="3524250" cy="38100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419148" y="3768566"/>
            <a:ext cx="7619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企业级 · 安全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08670" y="406050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审计日志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15338" y="440293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25252"/>
                </a:solidFill>
                <a:latin typeface="Arial"/>
                <a:ea typeface="Microsoft YaHei"/>
                <a:cs typeface="Arial"/>
              </a:rPr>
              <a:t>完整操作追踪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16290" y="4649152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IP 记录 · 请求耗时统计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416290" y="4887278"/>
            <a:ext cx="10081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90 天自动清理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" y="5619750"/>
            <a:ext cx="11049000" cy="476250"/>
          </a:xfrm>
          <a:prstGeom prst="roundRect">
            <a:avLst>
              <a:gd name="adj" fmla="val 120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45820" y="581787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技术栈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714500" y="5734050"/>
            <a:ext cx="104775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990344" y="5827395"/>
            <a:ext cx="496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FastAPI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905125" y="5734050"/>
            <a:ext cx="85725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315801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Vue 3</a:t>
            </a:r>
          </a:p>
        </p:txBody>
      </p:sp>
      <p:sp>
        <p:nvSpPr>
          <p:cNvPr id="47" name="Rectangle 47"/>
          <p:cNvSpPr/>
          <p:nvPr/>
        </p:nvSpPr>
        <p:spPr>
          <a:xfrm>
            <a:off x="3905250" y="5734050"/>
            <a:ext cx="123825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138327" y="5827395"/>
            <a:ext cx="77209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PostgreSQL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286375" y="5734050"/>
            <a:ext cx="85725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5392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Redis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286500" y="5734050"/>
            <a:ext cx="133350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547485" y="58273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AnythingLLM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762875" y="5734050"/>
            <a:ext cx="95250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010811" y="5827395"/>
            <a:ext cx="456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Docker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858250" y="5734050"/>
            <a:ext cx="95250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158764" y="582739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A0A0A"/>
                </a:solidFill>
                <a:latin typeface="Consolas"/>
                <a:ea typeface="Microsoft YaHei"/>
                <a:cs typeface="Consolas"/>
              </a:rPr>
              <a:t>Nginx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647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537210" y="75628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系统整体架构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1203960"/>
            <a:ext cx="43944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FastAPI + Vue 3 + PostgreSQL + Redis · 分层全栈设计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3429000" cy="762000"/>
          </a:xfrm>
          <a:prstGeom prst="roundRect">
            <a:avLst>
              <a:gd name="adj" fmla="val 75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772" y="17968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前端层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0105" y="1997392"/>
            <a:ext cx="18768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Vue 3 + TypeScript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6772" y="2215991"/>
            <a:ext cx="13584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SSE 流式接收 · 管理后台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82415" y="1934528"/>
            <a:ext cx="12663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b="1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→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1619250"/>
            <a:ext cx="3429000" cy="762000"/>
          </a:xfrm>
          <a:prstGeom prst="roundRect">
            <a:avLst>
              <a:gd name="adj" fmla="val 7500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656772" y="17968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Consolas"/>
                <a:ea typeface="Microsoft YaHei"/>
                <a:cs typeface="Consolas"/>
              </a:rPr>
              <a:t>中间件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50105" y="1997392"/>
            <a:ext cx="17215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JWT · 限流 · 熔断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56772" y="2215991"/>
            <a:ext cx="11234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70000"/>
                  </a:srgbClr>
                </a:solidFill>
                <a:latin typeface="Consolas"/>
                <a:ea typeface="Microsoft YaHei"/>
                <a:cs typeface="Consolas"/>
              </a:rPr>
              <a:t>请求日志 · 审计追踪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92415" y="1934528"/>
            <a:ext cx="12663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002FA7"/>
                </a:solidFill>
                <a:latin typeface="Consolas"/>
                <a:ea typeface="Microsoft YaHei"/>
              </a:rPr>
              <a:t>→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91500" y="1619250"/>
            <a:ext cx="3429000" cy="762000"/>
          </a:xfrm>
          <a:prstGeom prst="roundRect">
            <a:avLst>
              <a:gd name="adj" fmla="val 75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66772" y="1796891"/>
            <a:ext cx="9487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API 层 · 8 组路由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60105" y="1997392"/>
            <a:ext cx="16387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FastAPI Routers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66772" y="2215991"/>
            <a:ext cx="15210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37373"/>
                </a:solidFill>
                <a:latin typeface="Consolas"/>
                <a:ea typeface="Microsoft YaHei"/>
                <a:cs typeface="Consolas"/>
              </a:rPr>
              <a:t>认证 · 对话 · 知识库 · 管理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40493" y="2506028"/>
            <a:ext cx="12663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002FA7"/>
                </a:solidFill>
                <a:latin typeface="Consolas"/>
                <a:ea typeface="Microsoft YaHei"/>
              </a:rPr>
              <a:t>↓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2809875"/>
            <a:ext cx="11049000" cy="952500"/>
          </a:xfrm>
          <a:prstGeom prst="roundRect">
            <a:avLst>
              <a:gd name="adj" fmla="val 8000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46772" y="3006566"/>
            <a:ext cx="16837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核心 Agent 引擎 (ReAct 范式)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2010" y="3251835"/>
            <a:ext cx="915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Agent 循环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85010" y="3251835"/>
            <a:ext cx="10469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Prompt 管理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18510" y="32518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工具执行器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52010" y="32518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历史管理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95010" y="32518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长期记忆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38010" y="32518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技能加载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81010" y="3251835"/>
            <a:ext cx="906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上下文压缩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46772" y="3549491"/>
            <a:ext cx="2269852" cy="1269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chemeClr val="bg1"/>
                </a:solidFill>
                <a:latin typeface="Consolas"/>
                <a:ea typeface="Microsoft YaHei"/>
                <a:cs typeface="Consolas"/>
              </a:rPr>
              <a:t>ContextVar 并发隔离 · SSE 流式 · 单例模式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92493" y="3887152"/>
            <a:ext cx="12663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002FA7"/>
                </a:solidFill>
                <a:latin typeface="Consolas"/>
                <a:ea typeface="Microsoft YaHei"/>
              </a:rPr>
              <a:t>↓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39181" y="3887152"/>
            <a:ext cx="12663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002FA7"/>
                </a:solidFill>
                <a:latin typeface="Consolas"/>
                <a:ea typeface="Microsoft YaHei"/>
              </a:rPr>
              <a:t>↓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088493" y="3887152"/>
            <a:ext cx="12663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002FA7"/>
                </a:solidFill>
                <a:latin typeface="Consolas"/>
                <a:ea typeface="Microsoft YaHei"/>
              </a:rPr>
              <a:t>↓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191000"/>
            <a:ext cx="5334000" cy="952500"/>
          </a:xfrm>
          <a:prstGeom prst="roundRect">
            <a:avLst>
              <a:gd name="adj" fmla="val 60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46772" y="4368641"/>
            <a:ext cx="12499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服务层 · 14 个 Service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2962" y="4593431"/>
            <a:ext cx="3109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认证 · 对话 · 知识库 · 部门 · 技能 · 审计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2962" y="4850606"/>
            <a:ext cx="33722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文档解析 (Word/Excel/PPT/PDF) · 本地 RAG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286500" y="4191000"/>
            <a:ext cx="5334000" cy="952500"/>
          </a:xfrm>
          <a:prstGeom prst="roundRect">
            <a:avLst>
              <a:gd name="adj" fmla="val 60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561772" y="4368641"/>
            <a:ext cx="1448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工具注册表 · 15+ 内置工具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57962" y="4593431"/>
            <a:ext cx="3388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文件操作 · 网络请求 · 天气查询 · 知识库检索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57962" y="4850606"/>
            <a:ext cx="2871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聊天历史搜索 · 技能加载 · 自定义扩展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975862" y="5268278"/>
            <a:ext cx="12663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b="1" dirty="0">
                <a:solidFill>
                  <a:srgbClr val="002FA7"/>
                </a:solidFill>
                <a:latin typeface="Consolas"/>
                <a:ea typeface="Microsoft YaHei"/>
              </a:rPr>
              <a:t>↓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71500" y="5572125"/>
            <a:ext cx="3333750" cy="571500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6772" y="5749766"/>
            <a:ext cx="7077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PostgreSQL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43915" y="5925502"/>
            <a:ext cx="18745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持久化存储 · 11 个数据模型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4191000" y="5572125"/>
            <a:ext cx="3333750" cy="571500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466272" y="5749766"/>
            <a:ext cx="3221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Redis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463415" y="5925502"/>
            <a:ext cx="17825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缓存 · 会话 · 记忆 · 限流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810500" y="5572125"/>
            <a:ext cx="3810000" cy="571500"/>
          </a:xfrm>
          <a:prstGeom prst="roundRect">
            <a:avLst>
              <a:gd name="adj" fmla="val 10000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8085772" y="5749766"/>
            <a:ext cx="520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External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082915" y="5925502"/>
            <a:ext cx="32010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LLM API (OpenAI 兼容) · AnythingLLM (RAG)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-106017"/>
            <a:ext cx="5715000" cy="6858000"/>
          </a:xfrm>
          <a:prstGeom prst="rect">
            <a:avLst/>
          </a:prstGeom>
          <a:gradFill>
            <a:gsLst>
              <a:gs pos="0">
                <a:srgbClr val="002FA7"/>
              </a:gs>
              <a:gs pos="100000">
                <a:srgbClr val="001A5E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715000" y="0"/>
            <a:ext cx="647700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476250" y="6477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26745" y="2612708"/>
            <a:ext cx="201225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成果回顾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6745" y="3184208"/>
            <a:ext cx="1529191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5B7BFF"/>
                </a:solidFill>
                <a:latin typeface="Arial"/>
                <a:ea typeface="Microsoft YaHei"/>
                <a:cs typeface="Arial"/>
              </a:rPr>
              <a:t>与展望</a:t>
            </a:r>
          </a:p>
        </p:txBody>
      </p:sp>
      <p:sp>
        <p:nvSpPr>
          <p:cNvPr id="9" name="Rectangle 9"/>
          <p:cNvSpPr/>
          <p:nvPr/>
        </p:nvSpPr>
        <p:spPr>
          <a:xfrm>
            <a:off x="666750" y="3905250"/>
            <a:ext cx="571500" cy="28575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51510" y="4251960"/>
            <a:ext cx="30712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>
                    <a:alphaMod val="75000"/>
                  </a:srgbClr>
                </a:solidFill>
                <a:latin typeface="Arial"/>
                <a:ea typeface="Microsoft YaHei"/>
                <a:cs typeface="Arial"/>
              </a:rPr>
              <a:t>从只会调 API 到理解 Agent 的完整设计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3415" y="4553902"/>
            <a:ext cx="30093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工具注册 · 记忆管理 · 流式输出 · 熔断限流</a:t>
            </a:r>
          </a:p>
        </p:txBody>
      </p:sp>
      <p:sp>
        <p:nvSpPr>
          <p:cNvPr id="12" name="Line 12"/>
          <p:cNvSpPr/>
          <p:nvPr/>
        </p:nvSpPr>
        <p:spPr>
          <a:xfrm>
            <a:off x="666750" y="504825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9525">
            <a:solidFill>
              <a:srgbClr val="FFFFFF">
                <a:alpha val="15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53415" y="5315902"/>
            <a:ext cx="17135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不足：底层模型依赖较强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3415" y="5601652"/>
            <a:ext cx="24189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未来：引入 MCP 协议 · 多代理协作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81750" y="408623"/>
            <a:ext cx="1314462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dirty="0">
                <a:latin typeface="Consolas"/>
                <a:ea typeface="Microsoft YaHei"/>
                <a:cs typeface="Consolas"/>
              </a:rPr>
              <a:t>核心数据 · KPI</a:t>
            </a:r>
          </a:p>
        </p:txBody>
      </p:sp>
      <p:sp>
        <p:nvSpPr>
          <p:cNvPr id="17" name="Line 17"/>
          <p:cNvSpPr/>
          <p:nvPr/>
        </p:nvSpPr>
        <p:spPr>
          <a:xfrm>
            <a:off x="6191250" y="64770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191250" y="952500"/>
            <a:ext cx="5524500" cy="1333500"/>
          </a:xfrm>
          <a:prstGeom prst="roundRect">
            <a:avLst>
              <a:gd name="adj" fmla="val 4286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61772" y="12444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01 · 工具调用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18910" y="1261110"/>
            <a:ext cx="18779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93.3%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69605" y="14258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准确率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73415" y="1744028"/>
            <a:ext cx="1705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30 道测试题 · 28 道正确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191250" y="2476500"/>
            <a:ext cx="5524500" cy="1333500"/>
          </a:xfrm>
          <a:prstGeom prst="roundRect">
            <a:avLst>
              <a:gd name="adj" fmla="val 4286"/>
            </a:avLst>
          </a:prstGeom>
          <a:solidFill>
            <a:srgbClr val="F0F0EE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561772" y="2768441"/>
            <a:ext cx="8945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2FA7"/>
                </a:solidFill>
                <a:latin typeface="Consolas"/>
                <a:ea typeface="Microsoft YaHei"/>
                <a:cs typeface="Consolas"/>
              </a:rPr>
              <a:t>02 · 上下文压缩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8910" y="2785110"/>
            <a:ext cx="171688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5.3:1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69605" y="29498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A0A0A"/>
                </a:solidFill>
                <a:latin typeface="Arial"/>
                <a:ea typeface="Microsoft YaHei"/>
                <a:cs typeface="Arial"/>
              </a:rPr>
              <a:t>压缩比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73415" y="3268028"/>
            <a:ext cx="27026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37373"/>
                </a:solidFill>
                <a:latin typeface="Arial"/>
                <a:ea typeface="Microsoft YaHei"/>
                <a:cs typeface="Arial"/>
              </a:rPr>
              <a:t>45,200 → 8,500 Token · 保留率 92.5%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191250" y="4000500"/>
            <a:ext cx="5524500" cy="1333500"/>
          </a:xfrm>
          <a:prstGeom prst="roundRect">
            <a:avLst>
              <a:gd name="adj" fmla="val 4286"/>
            </a:avLst>
          </a:prstGeom>
          <a:solidFill>
            <a:srgbClr val="002FA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61772" y="4292441"/>
            <a:ext cx="774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FFFFFF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03 · 并发性能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18910" y="4309110"/>
            <a:ext cx="136263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1.2%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69605" y="4473892"/>
            <a:ext cx="14213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B7BFF"/>
                </a:solidFill>
                <a:latin typeface="Arial"/>
                <a:ea typeface="Microsoft YaHei"/>
                <a:cs typeface="Arial"/>
              </a:rPr>
              <a:t>100 并发错误率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73415" y="4792028"/>
            <a:ext cx="24726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P95 响应 15.6s · 系统可用率 98.8%</a:t>
            </a:r>
          </a:p>
        </p:txBody>
      </p:sp>
      <p:sp>
        <p:nvSpPr>
          <p:cNvPr id="33" name="Line 33"/>
          <p:cNvSpPr/>
          <p:nvPr/>
        </p:nvSpPr>
        <p:spPr>
          <a:xfrm>
            <a:off x="6191250" y="5715000"/>
            <a:ext cx="5524500" cy="9525"/>
          </a:xfrm>
          <a:custGeom>
            <a:avLst/>
            <a:gdLst/>
            <a:ahLst/>
            <a:cxnLst/>
            <a:rect l="l" t="t" r="r" b="b"/>
            <a:pathLst>
              <a:path w="5524500" h="9525">
                <a:moveTo>
                  <a:pt x="0" y="0"/>
                </a:moveTo>
                <a:lnTo>
                  <a:pt x="55245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174105" y="5950268"/>
            <a:ext cx="42886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2FA7"/>
                </a:solidFill>
                <a:latin typeface="Arial"/>
                <a:ea typeface="Microsoft YaHei"/>
                <a:cs typeface="Arial"/>
              </a:rPr>
              <a:t>→ 结论：Agent 框架让 LLM 从"会说"到"会做"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2FA7"/>
              </a:gs>
              <a:gs pos="100000">
                <a:srgbClr val="001A5E"/>
              </a:gs>
            </a:gsLst>
            <a:lin ang="2700000" scaled="1"/>
          </a:gra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571500" y="6477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FFFFFF">
                <a:alpha val="12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371213" y="2941320"/>
            <a:ext cx="344957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8" name="Rectangle 8"/>
          <p:cNvSpPr/>
          <p:nvPr/>
        </p:nvSpPr>
        <p:spPr>
          <a:xfrm>
            <a:off x="5143500" y="39052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5B7B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714750" y="4953000"/>
            <a:ext cx="4762500" cy="47625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372785" y="5144452"/>
            <a:ext cx="34464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60000"/>
                  </a:srgbClr>
                </a:solidFill>
                <a:latin typeface="Consolas"/>
                <a:ea typeface="Microsoft YaHei"/>
                <a:cs typeface="Consolas"/>
              </a:rPr>
              <a:t>github.com/kaierweite/llm-agent-framework</a:t>
            </a:r>
          </a:p>
        </p:txBody>
      </p:sp>
      <p:sp>
        <p:nvSpPr>
          <p:cNvPr id="12" name="Line 12"/>
          <p:cNvSpPr/>
          <p:nvPr/>
        </p:nvSpPr>
        <p:spPr>
          <a:xfrm>
            <a:off x="571500" y="6096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FFFFFF">
                <a:alpha val="12000"/>
              </a:srgbClr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1186</Words>
  <Application>Microsoft Office PowerPoint</Application>
  <PresentationFormat>宽屏</PresentationFormat>
  <Paragraphs>219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 oon</cp:lastModifiedBy>
  <cp:revision>2</cp:revision>
  <dcterms:created xsi:type="dcterms:W3CDTF">2013-01-27T09:14:16Z</dcterms:created>
  <dcterms:modified xsi:type="dcterms:W3CDTF">2026-05-20T08:55:06Z</dcterms:modified>
  <cp:category/>
</cp:coreProperties>
</file>